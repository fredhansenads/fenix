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72848c508045a6" /><Relationship Type="http://schemas.openxmlformats.org/officeDocument/2006/relationships/extended-properties" Target="/docProps/app.xml" Id="R5585f31ac36f4d3a" /><Relationship Type="http://schemas.openxmlformats.org/officeDocument/2006/relationships/officeDocument" Target="/ppt/presentation.xml" Id="R6a66696c7f6042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6c39b6605b4222"/>
  </p:sldMasterIdLst>
  <p:notesMasterIdLst>
    <p:notesMasterId xmlns:r="http://schemas.openxmlformats.org/officeDocument/2006/relationships" r:id="R9d42753f9f054f0c"/>
  </p:notesMasterIdLst>
  <p:sldIdLst>
    <p:sldId xmlns:r="http://schemas.openxmlformats.org/officeDocument/2006/relationships" id="256" r:id="Rb71c3433e1804a49"/>
    <p:sldId xmlns:r="http://schemas.openxmlformats.org/officeDocument/2006/relationships" id="257" r:id="Rfb792332afd44367"/>
    <p:sldId xmlns:r="http://schemas.openxmlformats.org/officeDocument/2006/relationships" id="258" r:id="R0065066918dc43fb"/>
    <p:sldId xmlns:r="http://schemas.openxmlformats.org/officeDocument/2006/relationships" id="259" r:id="Rb6238d662a554bad"/>
    <p:sldId xmlns:r="http://schemas.openxmlformats.org/officeDocument/2006/relationships" id="260" r:id="Rc76d1247805c4c13"/>
    <p:sldId xmlns:r="http://schemas.openxmlformats.org/officeDocument/2006/relationships" id="261" r:id="Re9ecac78fab64223"/>
    <p:sldId xmlns:r="http://schemas.openxmlformats.org/officeDocument/2006/relationships" id="262" r:id="R938b0856d8c54780"/>
    <p:sldId xmlns:r="http://schemas.openxmlformats.org/officeDocument/2006/relationships" id="263" r:id="R9c0c6363ef4c4811"/>
    <p:sldId xmlns:r="http://schemas.openxmlformats.org/officeDocument/2006/relationships" id="264" r:id="R3a8fdf10eff445ed"/>
    <p:sldId xmlns:r="http://schemas.openxmlformats.org/officeDocument/2006/relationships" id="265" r:id="R46e889c06b0148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c30314003a4112" /><Relationship Type="http://schemas.openxmlformats.org/officeDocument/2006/relationships/slideMaster" Target="/ppt/slideMasters/slideMaster1.xml" Id="R616c39b6605b4222" /><Relationship Type="http://schemas.openxmlformats.org/officeDocument/2006/relationships/notesMaster" Target="/ppt/notesMasters/notesMaster1.xml" Id="R9d42753f9f054f0c" /><Relationship Type="http://schemas.openxmlformats.org/officeDocument/2006/relationships/presProps" Target="/ppt/presProps.xml" Id="R54955818254b4692" /><Relationship Type="http://schemas.openxmlformats.org/officeDocument/2006/relationships/tableStyles" Target="/ppt/tableStyles.xml" Id="Rf00461fa8a254e90" /><Relationship Type="http://schemas.openxmlformats.org/officeDocument/2006/relationships/slide" Target="/ppt/slides/slide1.xml" Id="Rb71c3433e1804a49" /><Relationship Type="http://schemas.openxmlformats.org/officeDocument/2006/relationships/slide" Target="/ppt/slides/slide2.xml" Id="Rfb792332afd44367" /><Relationship Type="http://schemas.openxmlformats.org/officeDocument/2006/relationships/slide" Target="/ppt/slides/slide3.xml" Id="R0065066918dc43fb" /><Relationship Type="http://schemas.openxmlformats.org/officeDocument/2006/relationships/slide" Target="/ppt/slides/slide4.xml" Id="Rb6238d662a554bad" /><Relationship Type="http://schemas.openxmlformats.org/officeDocument/2006/relationships/slide" Target="/ppt/slides/slide5.xml" Id="Rc76d1247805c4c13" /><Relationship Type="http://schemas.openxmlformats.org/officeDocument/2006/relationships/slide" Target="/ppt/slides/slide6.xml" Id="Re9ecac78fab64223" /><Relationship Type="http://schemas.openxmlformats.org/officeDocument/2006/relationships/slide" Target="/ppt/slides/slide7.xml" Id="R938b0856d8c54780" /><Relationship Type="http://schemas.openxmlformats.org/officeDocument/2006/relationships/slide" Target="/ppt/slides/slide8.xml" Id="R9c0c6363ef4c4811" /><Relationship Type="http://schemas.openxmlformats.org/officeDocument/2006/relationships/slide" Target="/ppt/slides/slide9.xml" Id="R3a8fdf10eff445ed" /><Relationship Type="http://schemas.openxmlformats.org/officeDocument/2006/relationships/slide" Target="/ppt/slides/slide10.xml" Id="R46e889c06b0148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a0f5f14436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ab4e36ac084132" /><Relationship Type="http://schemas.openxmlformats.org/officeDocument/2006/relationships/notesMaster" Target="/ppt/notesMasters/notesMaster1.xml" Id="R7b95f1808210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1f9774df2474b" /><Relationship Type="http://schemas.openxmlformats.org/officeDocument/2006/relationships/notesMaster" Target="/ppt/notesMasters/notesMaster1.xml" Id="R9c2419fb04fd4e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463b178d574327" /><Relationship Type="http://schemas.openxmlformats.org/officeDocument/2006/relationships/notesMaster" Target="/ppt/notesMasters/notesMaster1.xml" Id="Rb16436e0321d49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65e2089845474c" /><Relationship Type="http://schemas.openxmlformats.org/officeDocument/2006/relationships/notesMaster" Target="/ppt/notesMasters/notesMaster1.xml" Id="R7c83905d4bbc43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db4c342334403b" /><Relationship Type="http://schemas.openxmlformats.org/officeDocument/2006/relationships/notesMaster" Target="/ppt/notesMasters/notesMaster1.xml" Id="R5292a33c57f245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a64bfc51e1475c" /><Relationship Type="http://schemas.openxmlformats.org/officeDocument/2006/relationships/notesMaster" Target="/ppt/notesMasters/notesMaster1.xml" Id="Re919e12e385e4f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4da0f1ae6a4e98" /><Relationship Type="http://schemas.openxmlformats.org/officeDocument/2006/relationships/notesMaster" Target="/ppt/notesMasters/notesMaster1.xml" Id="Ra750fd285cca48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e59258bf6547b8" /><Relationship Type="http://schemas.openxmlformats.org/officeDocument/2006/relationships/notesMaster" Target="/ppt/notesMasters/notesMaster1.xml" Id="R82b2cc27c70c4b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36b73cf76c4a80" /><Relationship Type="http://schemas.openxmlformats.org/officeDocument/2006/relationships/notesMaster" Target="/ppt/notesMasters/notesMaster1.xml" Id="Rd3e90893ff1d49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44001d6d8e4d1d" /><Relationship Type="http://schemas.openxmlformats.org/officeDocument/2006/relationships/notesMaster" Target="/ppt/notesMasters/notesMaster1.xml" Id="R51c446eb897448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c46fa98e248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d166571e1744d4" /><Relationship Type="http://schemas.openxmlformats.org/officeDocument/2006/relationships/slideLayout" Target="/ppt/slideLayouts/slideLayout1.xml" Id="Rb474c5c9b5a149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4c5c9b5a149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a6e1ed5674b3b" /><Relationship Type="http://schemas.openxmlformats.org/officeDocument/2006/relationships/notesSlide" Target="/ppt/notesSlides/notesSlide1.xml" Id="Ra91914076d9c4c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102de80514ff6" /><Relationship Type="http://schemas.openxmlformats.org/officeDocument/2006/relationships/notesSlide" Target="/ppt/notesSlides/notesSlide2.xml" Id="Ref8468f1d524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cfd9041a34a50" /><Relationship Type="http://schemas.openxmlformats.org/officeDocument/2006/relationships/notesSlide" Target="/ppt/notesSlides/notesSlide3.xml" Id="R572088701ce04e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16fffde74485a" /><Relationship Type="http://schemas.openxmlformats.org/officeDocument/2006/relationships/notesSlide" Target="/ppt/notesSlides/notesSlide4.xml" Id="Rb166daf44d814e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7c343ef644f08" /><Relationship Type="http://schemas.openxmlformats.org/officeDocument/2006/relationships/notesSlide" Target="/ppt/notesSlides/notesSlide5.xml" Id="R347af15f9cbf47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9e4c2b7d7438e" /><Relationship Type="http://schemas.openxmlformats.org/officeDocument/2006/relationships/notesSlide" Target="/ppt/notesSlides/notesSlide6.xml" Id="Rbad7c441688e4c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eacd1fbf74092" /><Relationship Type="http://schemas.openxmlformats.org/officeDocument/2006/relationships/chart" Target="/ppt/slides/charts/chart1.xml" Id="Red89b968bbb3443b" /><Relationship Type="http://schemas.openxmlformats.org/officeDocument/2006/relationships/notesSlide" Target="/ppt/notesSlides/notesSlide7.xml" Id="Raa68ef79837d42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52dd975254bde" /><Relationship Type="http://schemas.openxmlformats.org/officeDocument/2006/relationships/notesSlide" Target="/ppt/notesSlides/notesSlide8.xml" Id="Rc6577938dbba49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f1c3e48e54589" /><Relationship Type="http://schemas.openxmlformats.org/officeDocument/2006/relationships/notesSlide" Target="/ppt/notesSlides/notesSlide9.xml" Id="Rea9be2f93e9e40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2ab1847144023" /><Relationship Type="http://schemas.openxmlformats.org/officeDocument/2006/relationships/notesSlide" Target="/ppt/notesSlides/notesSlide10.xml" Id="R9b1cd2aa7ff3470a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Visibilidade</c:v>
          </c:tx>
          <c:spPr>
            <a:solidFill xmlns:a="http://schemas.openxmlformats.org/drawingml/2006/main">
              <a:srgbClr val="0F6F5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Receita</c:v>
              </c:pt>
              <c:pt idx="1">
                <c:v>Despesas</c:v>
              </c:pt>
              <c:pt idx="2">
                <c:v>Propostas</c:v>
              </c:pt>
              <c:pt idx="3">
                <c:v>Projetos</c:v>
              </c:pt>
            </c:strLit>
          </c:cat>
          <c:val>
            <c:numLit>
              <c:formatCode>General</c:formatCode>
              <c:ptCount val="4"/>
              <c:pt idx="0">
                <c:v>88</c:v>
              </c:pt>
              <c:pt idx="1">
                <c:v>74</c:v>
              </c:pt>
              <c:pt idx="2">
                <c:v>68</c:v>
              </c:pt>
              <c:pt idx="3">
                <c:v>81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C2B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EA72BB-8E8C-4E3F-B61E-6738D870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3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C7447-7359-4A71-9602-058B068C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4969F-64D0-4904-8140-BC766247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858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9D8AA-FE82-4B10-8789-EA73A5FE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6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SANTUS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5080C-9114-4632-B130-9E3AABF7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990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6DC"/>
                </a:solidFill>
              </a:defRPr>
            </a:pPr>
            <a:r>
              <a:rPr sz="1200" b="0">
                <a:solidFill>
                  <a:srgbClr val="CFE6DC"/>
                </a:solidFill>
              </a:rPr>
              <a:t>ERP web modular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81309-28BF-4FE0-8E25-4770D3EB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120F"/>
                </a:solidFill>
              </a:defRPr>
            </a:pPr>
            <a:r>
              <a:rPr sz="4800" b="1">
                <a:solidFill>
                  <a:srgbClr val="08120F"/>
                </a:solidFill>
              </a:rPr>
              <a:t>SantusERP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A7D78-7A9F-4ED4-B898-D022BF9D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431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4615C"/>
                </a:solidFill>
              </a:defRPr>
            </a:pPr>
            <a:r>
              <a:rPr sz="1875" b="0">
                <a:solidFill>
                  <a:srgbClr val="54615C"/>
                </a:solidFill>
              </a:rPr>
              <a:t>Gestao administrativa, financeira, comercial e operacional em uma unica 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8A460-7CAD-44EB-AA67-56F1D01E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F52"/>
                </a:solidFill>
              </a:defRPr>
            </a:pPr>
            <a:r>
              <a:rPr sz="1350" b="1">
                <a:solidFill>
                  <a:srgbClr val="0F6F52"/>
                </a:solidFill>
              </a:rPr>
              <a:t>Apresentacao do sistema | MVP pronto para evolucao comercial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35FB5-9AEC-4AE8-824C-279E1C7D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33850"/>
            <a:ext cx="523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58684-07CB-42F3-A3DB-2391E1FF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005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120F"/>
                </a:solidFill>
              </a:defRPr>
            </a:pPr>
            <a:r>
              <a:rPr sz="1650" b="0">
                <a:solidFill>
                  <a:srgbClr val="08120F"/>
                </a:solidFill>
              </a:rPr>
              <a:t>Centralizar processos. Reduzir controles paralelos. Decidir com dados.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3DEC8-EAC4-4299-B8FE-3959BA06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SantusERP | SANTUS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FED75-AC3C-4375-B00B-5134AEC7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9777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6C587-26AF-46EF-960B-2949EEC3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F52"/>
                </a:solidFill>
              </a:defRPr>
            </a:pPr>
            <a:r>
              <a:rPr sz="1050" b="1">
                <a:solidFill>
                  <a:srgbClr val="0F6F52"/>
                </a:solidFill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70CE7-0572-400E-B1D2-34A9E054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20F"/>
                </a:solidFill>
              </a:defRPr>
            </a:pPr>
            <a:r>
              <a:rPr sz="3000" b="1">
                <a:solidFill>
                  <a:srgbClr val="08120F"/>
                </a:solidFill>
              </a:rPr>
              <a:t>Por que o SantusERP existe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7F3AF-205F-454C-BE3A-B6B6921A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94D3B-F24F-42C2-AEA4-714E9BD9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20F"/>
                </a:solidFill>
              </a:defRPr>
            </a:pPr>
            <a:r>
              <a:rPr sz="1950" b="1">
                <a:solidFill>
                  <a:srgbClr val="08120F"/>
                </a:solidFill>
              </a:rPr>
              <a:t>Empresas em crescimento perdem tempo quando financeiro, vendas, contratos e operacao vivem em ferramentas separadas.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C223F-50E6-4E00-9534-D79B0E3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48AE0-371A-46D3-9A67-90CE37B1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120F"/>
                </a:solidFill>
              </a:defRPr>
            </a:pPr>
            <a:r>
              <a:rPr sz="1425" b="0">
                <a:solidFill>
                  <a:srgbClr val="08120F"/>
                </a:solidFill>
              </a:rPr>
              <a:t>Dados duplicados e baixa rastreabilidade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ADF72-55BC-4369-A113-19CEEA0A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F9D55-EB77-4549-BD5A-7FFDF69D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120F"/>
                </a:solidFill>
              </a:defRPr>
            </a:pPr>
            <a:r>
              <a:rPr sz="1425" b="0">
                <a:solidFill>
                  <a:srgbClr val="08120F"/>
                </a:solidFill>
              </a:rPr>
              <a:t>Dificuldade para ver caixa, propostas e prazos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725A5-048E-4265-B465-23BF4B37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5ED7D-CA26-42BC-9D35-E2CB7FF8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120F"/>
                </a:solidFill>
              </a:defRPr>
            </a:pPr>
            <a:r>
              <a:rPr sz="1425" b="0">
                <a:solidFill>
                  <a:srgbClr val="08120F"/>
                </a:solidFill>
              </a:rPr>
              <a:t>Retrabalho manual em relatorios e acompanhamentos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4C404-3382-4B3D-87D1-E25088B1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EEC91-BA70-4994-A892-FF4A2AA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120F"/>
                </a:solidFill>
              </a:defRPr>
            </a:pPr>
            <a:r>
              <a:rPr sz="1425" b="0">
                <a:solidFill>
                  <a:srgbClr val="08120F"/>
                </a:solidFill>
              </a:rPr>
              <a:t>Decisoes importantes tomadas sem visao consolidada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5138B-C5BE-43C6-8E0C-D17E0816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A3128-D1C8-496E-83FE-4B4387C7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3D2F"/>
                </a:solidFill>
              </a:defRPr>
            </a:pPr>
            <a:r>
              <a:rPr sz="1950" b="1">
                <a:solidFill>
                  <a:srgbClr val="0A3D2F"/>
                </a:solidFill>
              </a:rPr>
              <a:t>A resposta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29D7F-1CBF-4B40-82BB-7317EAF0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8120F"/>
                </a:solidFill>
              </a:defRPr>
            </a:pPr>
            <a:r>
              <a:rPr sz="1950" b="0">
                <a:solidFill>
                  <a:srgbClr val="08120F"/>
                </a:solidFill>
              </a:rPr>
              <a:t>Um ERP moderno, responsivo e modular para organizar a rotina da empresa e preparar crescimento com controle.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9E73B-89F0-4AE5-9931-7FD35E2A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F52"/>
                </a:solidFill>
              </a:defRPr>
            </a:pPr>
            <a:r>
              <a:rPr sz="1350" b="1">
                <a:solidFill>
                  <a:srgbClr val="0F6F52"/>
                </a:solidFill>
              </a:rPr>
              <a:t>MVP atual + base tecnica para escalar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45B9E-EFF6-4A3B-96D3-1E2CD33E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SantusERP | SANTUS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7B0EF-AC88-4A65-AF7C-AE779471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0309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6F605E-7298-4A5C-AC0D-2F904756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F52"/>
                </a:solidFill>
              </a:defRPr>
            </a:pPr>
            <a:r>
              <a:rPr sz="1050" b="1">
                <a:solidFill>
                  <a:srgbClr val="0F6F52"/>
                </a:solidFill>
              </a:rPr>
              <a:t>SOLUCAO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15D65-37D9-44C1-82D0-58A122DD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20F"/>
                </a:solidFill>
              </a:defRPr>
            </a:pPr>
            <a:r>
              <a:rPr sz="3000" b="1">
                <a:solidFill>
                  <a:srgbClr val="08120F"/>
                </a:solidFill>
              </a:rPr>
              <a:t>O que o sistema centraliza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87D85-A067-4FBC-86A1-285851D1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39D0D-5666-4C54-818B-2246EB46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45455-351D-48AD-9EB7-91BD73E8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10EBE-3ADE-4080-877A-048A3E2E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Financeiro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A7491-F624-48A1-B1F9-CA6D5D7A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Contas a pagar, receber, fluxo de caixa e vencimentos.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E0951-1F0F-4752-A8B2-ACF3BE8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61D99-49D1-49F9-B5B8-74C9E3B9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7E8FA-126C-43B3-99BB-11F7D79D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Comercial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9508B-867D-4F87-9346-7936D0D4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Clientes, propostas, contratos e conversao.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816A2-861B-4E78-822B-626B0FA0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335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5EDFC-0C10-4F37-9D62-30B5DCBB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335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18466-4702-4EAA-993A-A6619B04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Operacao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CFC69-3605-49F6-BAE7-8923EFC9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Projetos, tarefas, responsaveis, prioridades e prazos.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0E778-27FE-43FB-95E8-9FF864D8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EA9B3-3FC9-4B02-8BBC-1274149F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19174-4662-4AAC-8D2D-CF51EDEF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Gestao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40534-3135-4CB9-9AA2-506FED03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Dashboard, relatorios, indicadores e exportacoes.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795CA-5A03-4F8D-ADC0-B493A196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8FB37-3240-41B4-9273-DC4CD1C1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F4F23-F8B8-461B-9C65-1DE40B54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04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Administrativo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44F31-96D7-4415-9DB1-19440936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43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Usuarios, permissoes, empresas, configuracoes e auditoria.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2B4F0-F600-47FD-8A8E-3F1D6376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290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9F2C06-0BFD-4069-9C9B-5DACC363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290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2859A-1905-46E0-A249-B6221D1D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04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Operacao tecnica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F527C8-F321-4A85-86D6-524D00CC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PostgreSQL, backups, monitoramento e health check.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31952A-9F19-46E8-8CB9-3D4E6D1E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SantusERP | SANTUS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19779C-6669-40D3-B43B-E6E117F2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5723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4D82D5-156F-47FD-9E42-CB3936C9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F52"/>
                </a:solidFill>
              </a:defRPr>
            </a:pPr>
            <a:r>
              <a:rPr sz="1050" b="1">
                <a:solidFill>
                  <a:srgbClr val="0F6F52"/>
                </a:solidFill>
              </a:rPr>
              <a:t>DIFERENCIAIS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7D52A-D9E1-448B-9288-6F2E644B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20F"/>
                </a:solidFill>
              </a:defRPr>
            </a:pPr>
            <a:r>
              <a:rPr sz="3000" b="1">
                <a:solidFill>
                  <a:srgbClr val="08120F"/>
                </a:solidFill>
              </a:rPr>
              <a:t>Por que o SantusERP se destaca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9C90A-4FCB-4F9B-9176-A864AB14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E8A6B-1F0C-4C1E-96E6-BB1831DE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513EE-55AB-4030-B526-5E71837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6F52"/>
                </a:solidFill>
              </a:defRPr>
            </a:pPr>
            <a:r>
              <a:rPr sz="3150" b="1">
                <a:solidFill>
                  <a:srgbClr val="0F6F52"/>
                </a:solidFill>
              </a:rPr>
              <a:t>Modular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2C17D-A870-4994-ABCB-2F1760E2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Comeca simples e cresce por fases sem reescrever a base.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B76E0-9FF1-4AB3-AA0F-C4D8B80C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335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7C3D8-9422-4327-B071-E485739B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3D2F"/>
                </a:solidFill>
              </a:defRPr>
            </a:pPr>
            <a:r>
              <a:rPr sz="3150" b="1">
                <a:solidFill>
                  <a:srgbClr val="0A3D2F"/>
                </a:solidFill>
              </a:rPr>
              <a:t>Seguro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66976-26E5-4338-830B-FD4FF16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527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Sessao protegida, permissoes, auditoria e LGPD inicial.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029C4-B9B3-4B03-9E83-B5D94C34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335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8EBCB-6330-4AB2-902F-4D478C7E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56B2C"/>
                </a:solidFill>
              </a:defRPr>
            </a:pPr>
            <a:r>
              <a:rPr sz="3150" b="1">
                <a:solidFill>
                  <a:srgbClr val="C56B2C"/>
                </a:solidFill>
              </a:rPr>
              <a:t>Operavel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F72CE-4995-47D0-93E6-E5803620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Backup, monitor, logs, release-check e documentacao de suporte.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9ED6D-F213-4FD0-9FF8-963F757A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335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7FC45-E957-43B3-AFA8-17C94270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6F52"/>
                </a:solidFill>
              </a:defRPr>
            </a:pPr>
            <a:r>
              <a:rPr sz="3150" b="1">
                <a:solidFill>
                  <a:srgbClr val="0F6F52"/>
                </a:solidFill>
              </a:rPr>
              <a:t>Cliente-ready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4BC42-929E-4CEF-B3A9-99AF15C6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Guias, implantacao, SLA e roteiro comercial prontos para uso.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E2CCD-0EE5-4B51-998E-7371E9E2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66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42D48-437C-43A9-976C-BC3C8354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F52"/>
                </a:solidFill>
              </a:defRPr>
            </a:pPr>
            <a:r>
              <a:rPr sz="1350" b="1">
                <a:solidFill>
                  <a:srgbClr val="0F6F52"/>
                </a:solidFill>
              </a:rPr>
              <a:t>Diferencial central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F94F3-0D6F-4DA0-9298-A3C51EAA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120F"/>
                </a:solidFill>
              </a:defRPr>
            </a:pPr>
            <a:r>
              <a:rPr sz="1725" b="0">
                <a:solidFill>
                  <a:srgbClr val="08120F"/>
                </a:solidFill>
              </a:rPr>
              <a:t>O SantusERP combina produto, operacao e processo: nao e so uma tela de cadastro, e um caminho organizado para implantar, usar, medir e evoluir a gestao da empresa.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DECC8-01EB-45D5-B06A-BCA5D38C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SantusERP | SANTUS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ABE7F-0B5D-4011-BBF9-F8661C3C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96852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6585CA-4846-4C7A-BC09-18203E46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F52"/>
                </a:solidFill>
              </a:defRPr>
            </a:pPr>
            <a:r>
              <a:rPr sz="1050" b="1">
                <a:solidFill>
                  <a:srgbClr val="0F6F52"/>
                </a:solidFill>
              </a:rPr>
              <a:t>FUNCIONALIDADES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CE9AC-5C35-4370-9E1D-EBF04099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20F"/>
                </a:solidFill>
              </a:defRPr>
            </a:pPr>
            <a:r>
              <a:rPr sz="3000" b="1">
                <a:solidFill>
                  <a:srgbClr val="08120F"/>
                </a:solidFill>
              </a:rPr>
              <a:t>Principais capacidades por area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0B8BD-8A8D-4366-8089-5597DBAF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7A6C3-F1D8-4950-AE26-FEEC8F18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0BD8A-8AF0-4DBA-AC49-9283A11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39312-4FEB-49ED-8C51-1BCB946D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5737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 QUE ENTREGA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534F1-C2DC-4D1E-8A6A-AC4C2FA5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3B7FC-ABD6-4BB4-B2E5-2682A12E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0F"/>
                </a:solidFill>
              </a:defRPr>
            </a:pPr>
            <a:r>
              <a:rPr sz="1500" b="1">
                <a:solidFill>
                  <a:srgbClr val="08120F"/>
                </a:solidFill>
              </a:rPr>
              <a:t>Administracao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AB2C3-CD01-46C7-9AC5-37AD6FEB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526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5C"/>
                </a:solidFill>
              </a:defRPr>
            </a:pPr>
            <a:r>
              <a:rPr sz="1425" b="0">
                <a:solidFill>
                  <a:srgbClr val="54615C"/>
                </a:solidFill>
              </a:rPr>
              <a:t>Usuarios, permissoes, empresas, configuracoes, auditoria e saude do sistema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65018-1D27-461D-95E4-D5749D1F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CF2AE-04D5-4C7C-85E4-6FDE8E5E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0F"/>
                </a:solidFill>
              </a:defRPr>
            </a:pPr>
            <a:r>
              <a:rPr sz="1500" b="1">
                <a:solidFill>
                  <a:srgbClr val="08120F"/>
                </a:solidFill>
              </a:rPr>
              <a:t>Financeiro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9DE4E-33D9-411F-BB2D-BD1069E8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5C"/>
                </a:solidFill>
              </a:defRPr>
            </a:pPr>
            <a:r>
              <a:rPr sz="1425" b="0">
                <a:solidFill>
                  <a:srgbClr val="54615C"/>
                </a:solidFill>
              </a:rPr>
              <a:t>Pagar, receber, fluxo de caixa, vencidos, previstos e realizados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55D27-A639-4E9F-B7FF-B6DD2CB5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EE83E-E67C-4DE1-8C75-E1DD232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0F"/>
                </a:solidFill>
              </a:defRPr>
            </a:pPr>
            <a:r>
              <a:rPr sz="1500" b="1">
                <a:solidFill>
                  <a:srgbClr val="08120F"/>
                </a:solidFill>
              </a:rPr>
              <a:t>Comercial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424BA-A924-42D5-9CBA-97A51969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2902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5C"/>
                </a:solidFill>
              </a:defRPr>
            </a:pPr>
            <a:r>
              <a:rPr sz="1425" b="0">
                <a:solidFill>
                  <a:srgbClr val="54615C"/>
                </a:solidFill>
              </a:rPr>
              <a:t>Clientes, propostas, contratos, aprovacoes e taxa de conversao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1F0FB-3E63-492A-834C-626FCA9C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30D13-93FF-4C0F-BD0F-B4B6A515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0F"/>
                </a:solidFill>
              </a:defRPr>
            </a:pPr>
            <a:r>
              <a:rPr sz="1500" b="1">
                <a:solidFill>
                  <a:srgbClr val="08120F"/>
                </a:solidFill>
              </a:rPr>
              <a:t>Operacional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3F632-49F0-42A4-935C-5305AEAD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5C"/>
                </a:solidFill>
              </a:defRPr>
            </a:pPr>
            <a:r>
              <a:rPr sz="1425" b="0">
                <a:solidFill>
                  <a:srgbClr val="54615C"/>
                </a:solidFill>
              </a:rPr>
              <a:t>Projetos, tarefas, prioridades, responsaveis, prazos e produtividade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37B9A-A26B-42FE-A865-4F606AC8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73573-424F-46A4-A38E-7D647CFE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0F"/>
                </a:solidFill>
              </a:defRPr>
            </a:pPr>
            <a:r>
              <a:rPr sz="1500" b="1">
                <a:solidFill>
                  <a:srgbClr val="08120F"/>
                </a:solidFill>
              </a:rPr>
              <a:t>Gestao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26463-A92E-4DAC-ACBD-6BF9BA2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053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5C"/>
                </a:solidFill>
              </a:defRPr>
            </a:pPr>
            <a:r>
              <a:rPr sz="1425" b="0">
                <a:solidFill>
                  <a:srgbClr val="54615C"/>
                </a:solidFill>
              </a:rPr>
              <a:t>Dashboard, relatorios, filtros, exportacoes CSV e indicadores executivos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D9F50-CFE7-4C96-B1CD-9C10B220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SantusERP | SANTUS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91E0E-47DA-46F9-8E65-06C6030B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263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C4337-C6AA-4B6E-8541-9AC0E31F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F52"/>
                </a:solidFill>
              </a:defRPr>
            </a:pPr>
            <a:r>
              <a:rPr sz="1050" b="1">
                <a:solidFill>
                  <a:srgbClr val="0F6F52"/>
                </a:solidFill>
              </a:rPr>
              <a:t>USO DIARIO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BA83B-866A-46B2-84A9-640E6645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20F"/>
                </a:solidFill>
              </a:defRPr>
            </a:pPr>
            <a:r>
              <a:rPr sz="3000" b="1">
                <a:solidFill>
                  <a:srgbClr val="08120F"/>
                </a:solidFill>
              </a:rPr>
              <a:t>Processo de uso do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35915-4026-47FC-8D6F-72F9B376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355A4-EF2D-4D5F-8BE3-FD3EDCA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E6A94-46F6-49DC-8DFB-E3A0EE3E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6F52"/>
                </a:solidFill>
              </a:defRPr>
            </a:pPr>
            <a:r>
              <a:rPr sz="2850" b="1">
                <a:solidFill>
                  <a:srgbClr val="0F6F5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9E35E-AD25-4185-86CB-82F58295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20F"/>
                </a:solidFill>
              </a:defRPr>
            </a:pPr>
            <a:r>
              <a:rPr sz="1650" b="1">
                <a:solidFill>
                  <a:srgbClr val="08120F"/>
                </a:solidFill>
              </a:rPr>
              <a:t>Entrar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ADF30-BDFC-4637-9EC8-1EC7ECE2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121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15C"/>
                </a:solidFill>
              </a:defRPr>
            </a:pPr>
            <a:r>
              <a:rPr sz="1050" b="0">
                <a:solidFill>
                  <a:srgbClr val="54615C"/>
                </a:solidFill>
              </a:rPr>
              <a:t>Login seguro e carregamento dos dados da empresa.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98DB4-47D1-421B-AF55-208D8316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400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F7C11-6158-4073-BFE5-FCB88831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5262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F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E5039-FAB6-4658-B6DA-60AB319A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238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6F52"/>
                </a:solidFill>
              </a:defRPr>
            </a:pPr>
            <a:r>
              <a:rPr sz="2850" b="1">
                <a:solidFill>
                  <a:srgbClr val="0F6F5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2424D-1900-43A1-AC17-049B8B2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24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20F"/>
                </a:solidFill>
              </a:defRPr>
            </a:pPr>
            <a:r>
              <a:rPr sz="1650" b="1">
                <a:solidFill>
                  <a:srgbClr val="08120F"/>
                </a:solidFill>
              </a:rPr>
              <a:t>Ver painel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57B9E-32B4-4438-9940-28C1378C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05150"/>
            <a:ext cx="121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15C"/>
                </a:solidFill>
              </a:defRPr>
            </a:pPr>
            <a:r>
              <a:rPr sz="1050" b="0">
                <a:solidFill>
                  <a:srgbClr val="54615C"/>
                </a:solidFill>
              </a:rPr>
              <a:t>Dashboard mostra caixa, prazos, contratos e tarefas.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49DD3-AE08-4EDA-AA19-64AD1B47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57500"/>
            <a:ext cx="400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8E860-9185-4CD1-B489-5C15329E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5262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A61B7-A9CF-4EC1-928F-A53AE5DB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38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6F52"/>
                </a:solidFill>
              </a:defRPr>
            </a:pPr>
            <a:r>
              <a:rPr sz="2850" b="1">
                <a:solidFill>
                  <a:srgbClr val="0F6F5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002A2-721C-4A8F-B36D-77A92B45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20F"/>
                </a:solidFill>
              </a:defRPr>
            </a:pPr>
            <a:r>
              <a:rPr sz="1650" b="1">
                <a:solidFill>
                  <a:srgbClr val="08120F"/>
                </a:solidFill>
              </a:rPr>
              <a:t>Operar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1BF66-97D8-4E8F-B072-6006E1F8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121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15C"/>
                </a:solidFill>
              </a:defRPr>
            </a:pPr>
            <a:r>
              <a:rPr sz="1050" b="0">
                <a:solidFill>
                  <a:srgbClr val="54615C"/>
                </a:solidFill>
              </a:rPr>
              <a:t>Cadastrar, atualizar status e acompanhar responsaveis.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85B54-BF99-4859-82E2-DDC47035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00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44F4B-194B-4EB0-BF11-A815AF9D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5262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F45E5-AFD6-4F6C-837B-D817D52B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38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6F52"/>
                </a:solidFill>
              </a:defRPr>
            </a:pPr>
            <a:r>
              <a:rPr sz="2850" b="1">
                <a:solidFill>
                  <a:srgbClr val="0F6F5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B1E6F-8525-4710-B04E-DA571113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724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20F"/>
                </a:solidFill>
              </a:defRPr>
            </a:pPr>
            <a:r>
              <a:rPr sz="1650" b="1">
                <a:solidFill>
                  <a:srgbClr val="08120F"/>
                </a:solidFill>
              </a:rPr>
              <a:t>Analisar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06D32-77B3-4A71-9269-9542DA8A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05150"/>
            <a:ext cx="121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15C"/>
                </a:solidFill>
              </a:defRPr>
            </a:pPr>
            <a:r>
              <a:rPr sz="1050" b="0">
                <a:solidFill>
                  <a:srgbClr val="54615C"/>
                </a:solidFill>
              </a:rPr>
              <a:t>Relatorios filtraveis e exportacoes apoiam decisoes.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601EB-2621-4317-B9B2-A5320E35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57500"/>
            <a:ext cx="400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B982D-44A1-4D09-9781-7423A180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5262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EFA9F-B497-4146-B724-B3416BFB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383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6F52"/>
                </a:solidFill>
              </a:defRPr>
            </a:pPr>
            <a:r>
              <a:rPr sz="2850" b="1">
                <a:solidFill>
                  <a:srgbClr val="0F6F52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5F4FB-5313-42F1-B88C-46E01022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20F"/>
                </a:solidFill>
              </a:defRPr>
            </a:pPr>
            <a:r>
              <a:rPr sz="1650" b="1">
                <a:solidFill>
                  <a:srgbClr val="08120F"/>
                </a:solidFill>
              </a:rPr>
              <a:t>Evoluir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405E9-E6DB-4837-8025-6E809DA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05150"/>
            <a:ext cx="121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15C"/>
                </a:solidFill>
              </a:defRPr>
            </a:pPr>
            <a:r>
              <a:rPr sz="1050" b="0">
                <a:solidFill>
                  <a:srgbClr val="54615C"/>
                </a:solidFill>
              </a:rPr>
              <a:t>Auditoria e automacoes mantem a rotina sob controle.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648EDE-3C15-4671-A6C5-16BA5362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20F"/>
                </a:solidFill>
              </a:defRPr>
            </a:pPr>
            <a:r>
              <a:rPr sz="1950" b="1">
                <a:solidFill>
                  <a:srgbClr val="08120F"/>
                </a:solidFill>
              </a:rPr>
              <a:t>Resultado: a rotina sai do improviso e passa a ter trilha clara de execucao, acompanhamento e decisao.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643DD3-1743-4FEA-8737-528B60C0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SantusERP | SANTUS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8DCC87-4442-4F2F-A9BB-CAD09081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8826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C8137-D590-47C0-911D-F0CC1DA1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F52"/>
                </a:solidFill>
              </a:defRPr>
            </a:pPr>
            <a:r>
              <a:rPr sz="1050" b="1">
                <a:solidFill>
                  <a:srgbClr val="0F6F52"/>
                </a:solidFill>
              </a:rPr>
              <a:t>INDICADORES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355D7-4BFC-4EAA-A5F9-030CC383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20F"/>
                </a:solidFill>
              </a:defRPr>
            </a:pPr>
            <a:r>
              <a:rPr sz="3000" b="1">
                <a:solidFill>
                  <a:srgbClr val="08120F"/>
                </a:solidFill>
              </a:rPr>
              <a:t>Dados que apoiam a decisao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6BBB2-AB25-4F7E-8660-72BEAFCE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918A7-746B-4ED0-A861-4C89F504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1066800" y="2190750"/>
          <a:ext xmlns:a="http://schemas.openxmlformats.org/drawingml/2006/main" cx="4667250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89b968bbb3443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20429-3004-4573-8BBD-EEFA3DC4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120F"/>
                </a:solidFill>
              </a:defRPr>
            </a:pPr>
            <a:r>
              <a:rPr sz="2100" b="1">
                <a:solidFill>
                  <a:srgbClr val="08120F"/>
                </a:solidFill>
              </a:rPr>
              <a:t>Indicadores acompanhados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9CB95-5AB6-413C-A16E-071AF9FE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607F4-FD72-4BD2-A790-43CD6A2B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24100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20F"/>
                </a:solidFill>
              </a:defRPr>
            </a:pPr>
            <a:r>
              <a:rPr sz="1350" b="0">
                <a:solidFill>
                  <a:srgbClr val="08120F"/>
                </a:solidFill>
              </a:rPr>
              <a:t>Receita, despesas, lucro/prejuizo e fluxo de caixa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3685E-9ABE-4E23-BAB7-CC637B1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C8F4D-30B5-4886-A19B-9237E3D9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20F"/>
                </a:solidFill>
              </a:defRPr>
            </a:pPr>
            <a:r>
              <a:rPr sz="1350" b="0">
                <a:solidFill>
                  <a:srgbClr val="08120F"/>
                </a:solidFill>
              </a:rPr>
              <a:t>Contas vencidas e a vencer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6E6F6-0927-4734-BBE1-CDA2B49D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40DB3-959D-4F1E-B4AE-D9FF810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24200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20F"/>
                </a:solidFill>
              </a:defRPr>
            </a:pPr>
            <a:r>
              <a:rPr sz="1350" b="0">
                <a:solidFill>
                  <a:srgbClr val="08120F"/>
                </a:solidFill>
              </a:rPr>
              <a:t>Propostas enviadas, aprovadas e taxa de conversao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21E2B-158E-48E3-B61D-60EE5B64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976B5-1972-4DB9-85E4-509C3712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20F"/>
                </a:solidFill>
              </a:defRPr>
            </a:pPr>
            <a:r>
              <a:rPr sz="1350" b="0">
                <a:solidFill>
                  <a:srgbClr val="08120F"/>
                </a:solidFill>
              </a:rPr>
              <a:t>Clientes e contratos ativos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2A00A-FCDD-46B0-85E3-DFEBC95D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7FD69-E38B-4AC2-BECC-A17804D8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20F"/>
                </a:solidFill>
              </a:defRPr>
            </a:pPr>
            <a:r>
              <a:rPr sz="1350" b="0">
                <a:solidFill>
                  <a:srgbClr val="08120F"/>
                </a:solidFill>
              </a:rPr>
              <a:t>Projetos em andamento e tarefas por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39FC5-802E-4815-80AA-B877FA61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SantusERP | SANTUS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BFC8C-655D-4F1D-8307-EC8B8E31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8150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E2DFF-2668-4A29-9D55-BCD09671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F52"/>
                </a:solidFill>
              </a:defRPr>
            </a:pPr>
            <a:r>
              <a:rPr sz="1050" b="1">
                <a:solidFill>
                  <a:srgbClr val="0F6F52"/>
                </a:solidFill>
              </a:rPr>
              <a:t>SEGURANCA E OPERACAO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2E78F-9BDE-4FD7-9309-894F5322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20F"/>
                </a:solidFill>
              </a:defRPr>
            </a:pPr>
            <a:r>
              <a:rPr sz="3000" b="1">
                <a:solidFill>
                  <a:srgbClr val="08120F"/>
                </a:solidFill>
              </a:rPr>
              <a:t>Pronto para uso responsavel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55811-B65F-4936-BB83-C8BD9F4E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C8599-3F2E-44D2-AF4B-4245E04D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841BD-B9D2-4F1F-87B9-DF6FE98E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A6770-4814-4E48-BFE6-8C0B8AD2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Autenticacao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DFC82-4B4A-4543-90C5-232D31AA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Login, sessao segura, reset de senha e limite de tentativas.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2D751-BD17-4F35-B540-5F1BBBC6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D6932-2B5D-4F06-9122-361774D7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82C24-E151-4C7A-AB5F-00C184B6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Permissoes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37702-AD20-43E3-B6BB-5A3DCFD7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Perfis por papel e bloqueio de acoes nao autorizadas.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23A8A-A7C3-4A42-BE5D-DDB36B71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B7DB6-7CFB-406A-92DD-590A79B8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BF2AA-3EB5-4198-9849-07303506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Auditoria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66A73-183A-4B88-8ED9-09D3752C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Historico de criacao, edicao, exclusao, login e negacao.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3CE3D-2D94-4ACA-9E1C-80B6D6E8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3A619-81BA-4132-807C-02F4F5B0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9DAD5-73A1-46FD-8FB6-41573355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DF4DD-61D4-44F0-8183-5FF9B2E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Persistencia principal para operacao real.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BB011-5645-4103-98FC-97D50A17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765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6A313-31D0-4ECB-AEB1-030ABA0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765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05D57-D21D-4CCD-B8F5-ECD92032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Backup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B157E7-5AF0-4210-AC5B-53D512C9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Backup local, retencao e simulacao de restauracao.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8DBA7-484F-4951-B5B4-B0314AC6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1893F2-D75A-40B2-8D84-5757DEE3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BB2D2-F93F-40D7-A69F-1D197D71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20F"/>
                </a:solidFill>
              </a:defRPr>
            </a:pPr>
            <a:r>
              <a:rPr sz="1350" b="1">
                <a:solidFill>
                  <a:srgbClr val="08120F"/>
                </a:solidFill>
              </a:rPr>
              <a:t>Monitor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32599-CBDE-40BF-A336-3515930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14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5C"/>
                </a:solidFill>
              </a:defRPr>
            </a:pPr>
            <a:r>
              <a:rPr sz="1200" b="0">
                <a:solidFill>
                  <a:srgbClr val="54615C"/>
                </a:solidFill>
              </a:rPr>
              <a:t>Health check, logs estruturados e validacao de release.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203F06-D877-4AE8-9A46-939ADFD7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SantusERP | SANTUS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8DCF96-83CB-4B6B-8B1B-39848684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4404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7EB9B3-67C1-46A7-8E45-EE9A2741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F52"/>
                </a:solidFill>
              </a:defRPr>
            </a:pPr>
            <a:r>
              <a:rPr sz="1050" b="1">
                <a:solidFill>
                  <a:srgbClr val="0F6F52"/>
                </a:solidFill>
              </a:rPr>
              <a:t>IMPLANTACAO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C8622-75F4-494D-8E0E-36973C99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20F"/>
                </a:solidFill>
              </a:defRPr>
            </a:pPr>
            <a:r>
              <a:rPr sz="3000" b="1">
                <a:solidFill>
                  <a:srgbClr val="08120F"/>
                </a:solidFill>
              </a:rPr>
              <a:t>Como colocar em uso no cliente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0908D-DA90-4AC4-8619-AAFD4F3E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9BAAD-3758-4825-BCBF-F1824659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B950E-8DDF-4A73-8300-599AB7A0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3D2F"/>
                </a:solidFill>
              </a:defRPr>
            </a:pPr>
            <a:r>
              <a:rPr sz="1800" b="1">
                <a:solidFill>
                  <a:srgbClr val="0A3D2F"/>
                </a:solidFill>
              </a:rPr>
              <a:t>1. Kickoff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13732-2BA8-4856-A7EE-95D47AE9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15C"/>
                </a:solidFill>
              </a:defRPr>
            </a:pPr>
            <a:r>
              <a:rPr sz="1350" b="0">
                <a:solidFill>
                  <a:srgbClr val="54615C"/>
                </a:solidFill>
              </a:rPr>
              <a:t>escopo e responsaveis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EA4B7-728F-47B8-B173-C8440EB2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1AE80-50D7-4254-85A6-311169D5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3D2F"/>
                </a:solidFill>
              </a:defRPr>
            </a:pPr>
            <a:r>
              <a:rPr sz="1800" b="1">
                <a:solidFill>
                  <a:srgbClr val="0A3D2F"/>
                </a:solidFill>
              </a:rPr>
              <a:t>2. Ambiente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58BD2-F8A0-4627-8433-4D31C9C2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05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15C"/>
                </a:solidFill>
              </a:defRPr>
            </a:pPr>
            <a:r>
              <a:rPr sz="1350" b="0">
                <a:solidFill>
                  <a:srgbClr val="54615C"/>
                </a:solidFill>
              </a:rPr>
              <a:t>PostgreSQL, .env e monitor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2DB25-456D-4ECA-B84B-F5EF59B7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17BDC-3EC6-4337-AD55-4779C93F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3D2F"/>
                </a:solidFill>
              </a:defRPr>
            </a:pPr>
            <a:r>
              <a:rPr sz="1800" b="1">
                <a:solidFill>
                  <a:srgbClr val="0A3D2F"/>
                </a:solidFill>
              </a:rPr>
              <a:t>3. Configuracao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1D68B-4736-44ED-B054-3F2F1B08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15C"/>
                </a:solidFill>
              </a:defRPr>
            </a:pPr>
            <a:r>
              <a:rPr sz="1350" b="0">
                <a:solidFill>
                  <a:srgbClr val="54615C"/>
                </a:solidFill>
              </a:rPr>
              <a:t>empresa, usuarios e permissoes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0BED9-0407-434A-B0B2-68842068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433EA-8380-4A34-BBB7-42F4031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3D2F"/>
                </a:solidFill>
              </a:defRPr>
            </a:pPr>
            <a:r>
              <a:rPr sz="1800" b="1">
                <a:solidFill>
                  <a:srgbClr val="0A3D2F"/>
                </a:solidFill>
              </a:rPr>
              <a:t>4. Carga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FD337-FA98-40CF-8D51-4151C151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15C"/>
                </a:solidFill>
              </a:defRPr>
            </a:pPr>
            <a:r>
              <a:rPr sz="1350" b="0">
                <a:solidFill>
                  <a:srgbClr val="54615C"/>
                </a:solidFill>
              </a:rPr>
              <a:t>dados iniciais por modulo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3496B-5E6F-4283-952E-D24C259A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10B62-8561-4C94-97A8-80155280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3D2F"/>
                </a:solidFill>
              </a:defRPr>
            </a:pPr>
            <a:r>
              <a:rPr sz="1800" b="1">
                <a:solidFill>
                  <a:srgbClr val="0A3D2F"/>
                </a:solidFill>
              </a:rPr>
              <a:t>5. Treinamento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C625C-F016-409C-9E05-614211B1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29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15C"/>
                </a:solidFill>
              </a:defRPr>
            </a:pPr>
            <a:r>
              <a:rPr sz="1350" b="0">
                <a:solidFill>
                  <a:srgbClr val="54615C"/>
                </a:solidFill>
              </a:rPr>
              <a:t>usuarios-chave por area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8231A-FC16-4AF3-9721-822C66F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B8C2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97F01-364D-4E50-9E9F-FD1005C5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3D2F"/>
                </a:solidFill>
              </a:defRPr>
            </a:pPr>
            <a:r>
              <a:rPr sz="1800" b="1">
                <a:solidFill>
                  <a:srgbClr val="0A3D2F"/>
                </a:solidFill>
              </a:rPr>
              <a:t>6. Go-live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FBDB3-44A6-4C04-BC97-E3CBFC88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29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15C"/>
                </a:solidFill>
              </a:defRPr>
            </a:pPr>
            <a:r>
              <a:rPr sz="1350" b="0">
                <a:solidFill>
                  <a:srgbClr val="54615C"/>
                </a:solidFill>
              </a:rPr>
              <a:t>check completo e suporte assistido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FED89-796C-46F0-8ABA-E71FD1DC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20F"/>
                </a:solidFill>
              </a:defRPr>
            </a:pPr>
            <a:r>
              <a:rPr sz="1650" b="1">
                <a:solidFill>
                  <a:srgbClr val="08120F"/>
                </a:solidFill>
              </a:rPr>
              <a:t>A etapa 10 deixa esse processo documentado: comercializacao, SLA, suporte, proposta, implantacao e guia de usuario final.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8D436-FB55-4DE3-AEB6-AE17FC5D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SantusERP | SANTUS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FCA0C-A739-42D6-8BA4-58FC48E4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5C"/>
                </a:solidFill>
              </a:defRPr>
            </a:pPr>
            <a:r>
              <a:rPr sz="900" b="0">
                <a:solidFill>
                  <a:srgbClr val="54615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2667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3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1B6CE0-845F-4240-9CD4-319C1359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SantusERP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B9185-DD86-4895-B4E6-37EEDAE2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FE6DC"/>
                </a:solidFill>
              </a:defRPr>
            </a:pPr>
            <a:r>
              <a:rPr sz="2100" b="0">
                <a:solidFill>
                  <a:srgbClr val="CFE6DC"/>
                </a:solidFill>
              </a:rPr>
              <a:t>Pronto para demonstrar, implantar e evoluir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7FDB4-E1F3-4CCE-9FCA-26083B09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5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7066D-A28D-48AC-AF90-8B77DA03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Proximas evolucoes recomendadas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8BC29-9733-4ECB-95C9-3EC99917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3B1DC-69D9-40F8-9492-528C62C7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Automacoes avancadas com regras configuraveis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C9663-F6FF-4A4B-AC5F-7A38A38A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0E74E-064A-4F14-94C0-26C9D438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Assistente de IA para analise executiva e recomendacoes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1E856-2A9E-4DFC-8BA6-A7FA14F2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D47B8-EB8F-4DA5-B76E-A216C863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Portal do cliente e integracoes externas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A53E8-F890-480F-A29B-B266D914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B4F01-4E55-4946-8A20-64612A0C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PWA ou aplicativo mobile para acesso em campo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1A5B3-03DF-4AD1-8B24-ECC298B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68C64-AB32-4701-80AC-3E72C356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Proposta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C75E9-61CB-4854-8C7D-A9E52C5F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F4EF"/>
                </a:solidFill>
              </a:defRPr>
            </a:pPr>
            <a:r>
              <a:rPr sz="1425" b="0">
                <a:solidFill>
                  <a:srgbClr val="E5F4EF"/>
                </a:solidFill>
              </a:rPr>
              <a:t>Crescer com controle, dados e processo.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5B70F-4653-456C-B967-32F265D3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SANTUS</a:t>
            </a:r>
          </a:p>
        </p:txBody>
      </p:sp>
    </p:spTree>
    <p:extLst>
      <p:ext uri="{BB962C8B-B14F-4D97-AF65-F5344CB8AC3E}">
        <p14:creationId xmlns:p14="http://schemas.microsoft.com/office/powerpoint/2010/main" val="974517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2026-06-25T18:24:22.1700000Z</dcterms:created>
  <dcterms:modified xsi:type="dcterms:W3CDTF">2026-06-25T18:24:22.1700000Z</dcterms:modified>
</coreProperties>
</file>